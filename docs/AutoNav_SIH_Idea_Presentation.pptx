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endParaRPr lang="en-US" dirty="0"/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26123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Edge-AI Based Distributed Fleet Coordination for Autonomous Mobile Robots (AMRs) in Smart Warehouses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Theme- Robotics and Drones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ID- [Your Team ID]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[Your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0C0"/>
                </a:solidFill>
                <a:latin typeface="Times New Roman"/>
              </a:rPr>
              <a:t>AutoNav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62763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5F6B"/>
                </a:solidFill>
                <a:latin typeface="Calibri"/>
              </a:rPr>
              <a:t>Decentralized Edge-AI Fleet Coordination for Autonomous Mobile Robots in Smart Warehouses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2240280"/>
            <a:ext cx="3611880" cy="37947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&quot;No&quot; Symbol 15364"/>
          <p:cNvSpPr/>
          <p:nvPr/>
        </p:nvSpPr>
        <p:spPr>
          <a:xfrm>
            <a:off x="1897380" y="2496312"/>
            <a:ext cx="640080" cy="640080"/>
          </a:xfrm>
          <a:prstGeom prst="noSmoking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548640" y="32918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Calibri"/>
              </a:rPr>
              <a:t>PROBLEM STATEMENT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40080" y="3794760"/>
            <a:ext cx="31546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Warehouse AGVs plan routes blindly, ignoring other robots.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Fixed priority rules cause avoidable waits, and centralized controllers are a single point of failure.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Result: collisions, deadlocks, and downtime as fleets scale.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206240" y="2240280"/>
            <a:ext cx="3611880" cy="37947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Gear 6 15368"/>
          <p:cNvSpPr/>
          <p:nvPr/>
        </p:nvSpPr>
        <p:spPr>
          <a:xfrm>
            <a:off x="5692140" y="2496312"/>
            <a:ext cx="640080" cy="640080"/>
          </a:xfrm>
          <a:prstGeom prst="gear6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4343400" y="32918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Calibri"/>
              </a:rPr>
              <a:t>PROPOSED SOLUTION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434840" y="3794760"/>
            <a:ext cx="31546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Each robot runs on its own ESP32 — no central server.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Idle robots decentrally claim pickup -&gt; dropoff jobs, plan occupancy-aware routes, and negotiate conflicts peer-to-peer over WiFi.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A TinyML model predicts ETA to resolve who goes first.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001000" y="2240280"/>
            <a:ext cx="3611880" cy="37947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Lightning Bolt 15372"/>
          <p:cNvSpPr/>
          <p:nvPr/>
        </p:nvSpPr>
        <p:spPr>
          <a:xfrm>
            <a:off x="9486900" y="2496312"/>
            <a:ext cx="640080" cy="640080"/>
          </a:xfrm>
          <a:prstGeom prst="lightningBolt">
            <a:avLst/>
          </a:prstGeom>
          <a:solidFill>
            <a:srgbClr val="E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8138160" y="32918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Calibri"/>
              </a:rPr>
              <a:t>INNOVATION / UVP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8229600" y="3794760"/>
            <a:ext cx="31546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Edge-AI priority: a trained neural net decides right-of-way, not a fixed rule.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Plans around congestion before moving, not after colliding.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Self-healing deadlocks: reroute, yield, or temporary sidestep.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42B"/>
                </a:solidFill>
                <a:latin typeface="Calibri"/>
              </a:rPr>
              <a:t>Fully decentralized — no single point of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WORKFLOW: HOW A JOB GETS DELIVERED</a:t>
            </a:r>
          </a:p>
        </p:txBody>
      </p:sp>
      <p:sp>
        <p:nvSpPr>
          <p:cNvPr id="17411" name="Terminator 17410"/>
          <p:cNvSpPr/>
          <p:nvPr/>
        </p:nvSpPr>
        <p:spPr>
          <a:xfrm>
            <a:off x="457200" y="1828800"/>
            <a:ext cx="1463040" cy="822960"/>
          </a:xfrm>
          <a:prstGeom prst="flowChartTerminator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JOB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ANNOUNCED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103120" y="1828800"/>
            <a:ext cx="182880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ROBOT CLAIMS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(lowest-ID, decentralized)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0" y="1828800"/>
            <a:ext cx="201168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SMART PLANNING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(occupancy-aware + TinyML)</a:t>
            </a:r>
          </a:p>
        </p:txBody>
      </p:sp>
      <p:sp>
        <p:nvSpPr>
          <p:cNvPr id="17414" name="Decision 17413"/>
          <p:cNvSpPr/>
          <p:nvPr/>
        </p:nvSpPr>
        <p:spPr>
          <a:xfrm>
            <a:off x="6309360" y="1600200"/>
            <a:ext cx="1645920" cy="1280160"/>
          </a:xfrm>
          <a:prstGeom prst="flowChartDecision">
            <a:avLst/>
          </a:prstGeom>
          <a:solidFill>
            <a:srgbClr val="E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CONFLICT?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38160" y="1828800"/>
            <a:ext cx="201168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PICKUP -&gt; DWELL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-&gt; DROPOFF</a:t>
            </a:r>
          </a:p>
        </p:txBody>
      </p:sp>
      <p:sp>
        <p:nvSpPr>
          <p:cNvPr id="17416" name="Terminator 17415"/>
          <p:cNvSpPr/>
          <p:nvPr/>
        </p:nvSpPr>
        <p:spPr>
          <a:xfrm>
            <a:off x="10332720" y="1828800"/>
            <a:ext cx="1097280" cy="822960"/>
          </a:xfrm>
          <a:prstGeom prst="flowChartTerminator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1920240" y="2240280"/>
            <a:ext cx="182880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3931920" y="2240280"/>
            <a:ext cx="182880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6126480" y="2240280"/>
            <a:ext cx="182880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7955279" y="2240280"/>
            <a:ext cx="182881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10149840" y="2240280"/>
            <a:ext cx="182880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6144768" y="18562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No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7132320" y="2880360"/>
            <a:ext cx="0" cy="777240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7223760" y="292608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Yes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035040" y="3657600"/>
            <a:ext cx="2194560" cy="6400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REROUTE / YIELD / SIDESTEP</a:t>
            </a:r>
          </a:p>
        </p:txBody>
      </p:sp>
      <p:cxnSp>
        <p:nvCxnSpPr>
          <p:cNvPr id="17426" name="Connector 17425"/>
          <p:cNvCxnSpPr/>
          <p:nvPr/>
        </p:nvCxnSpPr>
        <p:spPr>
          <a:xfrm flipV="1">
            <a:off x="8229600" y="2651760"/>
            <a:ext cx="914400" cy="1005840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TECH STACK</a:t>
            </a:r>
          </a:p>
        </p:txBody>
      </p:sp>
      <p:sp>
        <p:nvSpPr>
          <p:cNvPr id="17428" name="Cube 17427"/>
          <p:cNvSpPr/>
          <p:nvPr/>
        </p:nvSpPr>
        <p:spPr>
          <a:xfrm>
            <a:off x="1275588" y="4956048"/>
            <a:ext cx="512064" cy="512064"/>
          </a:xfrm>
          <a:prstGeom prst="cub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55321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B"/>
                </a:solidFill>
                <a:latin typeface="Calibri"/>
              </a:rPr>
              <a:t>ESP32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7200" y="58064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Edge compute on every robot</a:t>
            </a:r>
          </a:p>
        </p:txBody>
      </p:sp>
      <p:sp>
        <p:nvSpPr>
          <p:cNvPr id="17431" name="Cloud 17430"/>
          <p:cNvSpPr/>
          <p:nvPr/>
        </p:nvSpPr>
        <p:spPr>
          <a:xfrm>
            <a:off x="3550158" y="4956048"/>
            <a:ext cx="512064" cy="512064"/>
          </a:xfrm>
          <a:prstGeom prst="cloud">
            <a:avLst/>
          </a:prstGeom>
          <a:solidFill>
            <a:srgbClr val="E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731770" y="55321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B"/>
                </a:solidFill>
                <a:latin typeface="Calibri"/>
              </a:rPr>
              <a:t>WiFi / UDP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731770" y="58064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Peer-to-peer mesh comms</a:t>
            </a:r>
          </a:p>
        </p:txBody>
      </p:sp>
      <p:sp>
        <p:nvSpPr>
          <p:cNvPr id="17434" name="Lightning Bolt 17433"/>
          <p:cNvSpPr/>
          <p:nvPr/>
        </p:nvSpPr>
        <p:spPr>
          <a:xfrm>
            <a:off x="5824728" y="4956048"/>
            <a:ext cx="512064" cy="512064"/>
          </a:xfrm>
          <a:prstGeom prst="lightningBol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5006340" y="55321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B"/>
                </a:solidFill>
                <a:latin typeface="Calibri"/>
              </a:rPr>
              <a:t>TinyML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006340" y="58064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On-device ETA priority model</a:t>
            </a:r>
          </a:p>
        </p:txBody>
      </p:sp>
      <p:sp>
        <p:nvSpPr>
          <p:cNvPr id="17437" name="Hexagon 17436"/>
          <p:cNvSpPr/>
          <p:nvPr/>
        </p:nvSpPr>
        <p:spPr>
          <a:xfrm>
            <a:off x="8099298" y="4956048"/>
            <a:ext cx="512064" cy="512064"/>
          </a:xfrm>
          <a:prstGeom prst="hexag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280910" y="55321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B"/>
                </a:solidFill>
                <a:latin typeface="Calibri"/>
              </a:rPr>
              <a:t>Python + WebSocket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280910" y="58064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Bridge relays live fleet state</a:t>
            </a:r>
          </a:p>
        </p:txBody>
      </p:sp>
      <p:sp>
        <p:nvSpPr>
          <p:cNvPr id="17440" name="Display 17439"/>
          <p:cNvSpPr/>
          <p:nvPr/>
        </p:nvSpPr>
        <p:spPr>
          <a:xfrm>
            <a:off x="10373868" y="4956048"/>
            <a:ext cx="512064" cy="512064"/>
          </a:xfrm>
          <a:prstGeom prst="flowChartDisplay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9555480" y="55321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B"/>
                </a:solidFill>
                <a:latin typeface="Calibri"/>
              </a:rPr>
              <a:t>Web Dashboard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555480" y="58064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Live SVG map, jobs, comparison stats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FEASIBILITY EVIDENCE — ALREADY PROVEN, NOT JUST PLANNED</a:t>
            </a:r>
          </a:p>
        </p:txBody>
      </p:sp>
      <p:sp>
        <p:nvSpPr>
          <p:cNvPr id="17411" name="Display 17410"/>
          <p:cNvSpPr/>
          <p:nvPr/>
        </p:nvSpPr>
        <p:spPr>
          <a:xfrm>
            <a:off x="1810511" y="1600200"/>
            <a:ext cx="585216" cy="585216"/>
          </a:xfrm>
          <a:prstGeom prst="flowChartDisplay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331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0242B"/>
                </a:solidFill>
                <a:latin typeface="Calibri"/>
              </a:rPr>
              <a:t>SIMULATED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624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5F6B"/>
                </a:solidFill>
                <a:latin typeface="Calibri"/>
              </a:rPr>
              <a:t>7 adversarial deadlock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5F6B"/>
                </a:solidFill>
                <a:latin typeface="Calibri"/>
              </a:rPr>
              <a:t>scenarios verified in Python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3822191" y="1892807"/>
            <a:ext cx="539497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Cube 17414"/>
          <p:cNvSpPr/>
          <p:nvPr/>
        </p:nvSpPr>
        <p:spPr>
          <a:xfrm>
            <a:off x="5788151" y="1600200"/>
            <a:ext cx="585216" cy="585216"/>
          </a:xfrm>
          <a:prstGeom prst="cub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434840" y="2331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0242B"/>
                </a:solidFill>
                <a:latin typeface="Calibri"/>
              </a:rPr>
              <a:t>PROTOTYPED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34840" y="2624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5F6B"/>
                </a:solidFill>
                <a:latin typeface="Calibri"/>
              </a:rPr>
              <a:t>3-robot ESP32 fleet built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5F6B"/>
                </a:solidFill>
                <a:latin typeface="Calibri"/>
              </a:rPr>
              <a:t>and running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7799831" y="1892807"/>
            <a:ext cx="539496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5-Point Star 17418"/>
          <p:cNvSpPr/>
          <p:nvPr/>
        </p:nvSpPr>
        <p:spPr>
          <a:xfrm>
            <a:off x="9765792" y="1600200"/>
            <a:ext cx="585216" cy="585216"/>
          </a:xfrm>
          <a:prstGeom prst="star5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412480" y="2331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0242B"/>
                </a:solidFill>
                <a:latin typeface="Calibri"/>
              </a:rPr>
              <a:t>FIELD-TESTED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412480" y="2624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5F6B"/>
                </a:solidFill>
                <a:latin typeface="Calibri"/>
              </a:rPr>
              <a:t>Live conflict resolution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5F6B"/>
                </a:solidFill>
                <a:latin typeface="Calibri"/>
              </a:rPr>
              <a:t>observed over real WiFi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RISKS AND MITIGATION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3840480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&quot;No&quot; Symbol 17423"/>
          <p:cNvSpPr/>
          <p:nvPr/>
        </p:nvSpPr>
        <p:spPr>
          <a:xfrm>
            <a:off x="594360" y="4018788"/>
            <a:ext cx="329184" cy="329184"/>
          </a:xfrm>
          <a:prstGeom prst="noSmoking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1051560" y="3840480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42B"/>
                </a:solidFill>
                <a:latin typeface="Calibri"/>
              </a:rPr>
              <a:t>WiFi broadcast can drop packets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5623560" y="4183380"/>
            <a:ext cx="36576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6035040" y="384048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A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Pentagon 17427"/>
          <p:cNvSpPr/>
          <p:nvPr/>
        </p:nvSpPr>
        <p:spPr>
          <a:xfrm>
            <a:off x="6172200" y="4018788"/>
            <a:ext cx="329184" cy="329184"/>
          </a:xfrm>
          <a:prstGeom prst="homePlat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629400" y="384048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42B"/>
                </a:solidFill>
                <a:latin typeface="Calibri"/>
              </a:rPr>
              <a:t>Critical messages sent redundantly; occupancy re-confirmed via heartbeat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4636008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&quot;No&quot; Symbol 17430"/>
          <p:cNvSpPr/>
          <p:nvPr/>
        </p:nvSpPr>
        <p:spPr>
          <a:xfrm>
            <a:off x="594360" y="4814316"/>
            <a:ext cx="329184" cy="329184"/>
          </a:xfrm>
          <a:prstGeom prst="noSmoking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1051560" y="4636008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42B"/>
                </a:solidFill>
                <a:latin typeface="Calibri"/>
              </a:rPr>
              <a:t>Hardware cost at large fleet scale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5623560" y="4978908"/>
            <a:ext cx="36576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6035040" y="4636008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A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Pentagon 17434"/>
          <p:cNvSpPr/>
          <p:nvPr/>
        </p:nvSpPr>
        <p:spPr>
          <a:xfrm>
            <a:off x="6172200" y="4814316"/>
            <a:ext cx="329184" cy="329184"/>
          </a:xfrm>
          <a:prstGeom prst="homePlat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629400" y="4636008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42B"/>
                </a:solidFill>
                <a:latin typeface="Calibri"/>
              </a:rPr>
              <a:t>Off-the-shelf ESP32 (~₹380/robot) keeps per-unit cost low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57200" y="5431536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&quot;No&quot; Symbol 17437"/>
          <p:cNvSpPr/>
          <p:nvPr/>
        </p:nvSpPr>
        <p:spPr>
          <a:xfrm>
            <a:off x="594360" y="5609844"/>
            <a:ext cx="329184" cy="329184"/>
          </a:xfrm>
          <a:prstGeom prst="noSmoking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1051560" y="5431536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42B"/>
                </a:solidFill>
                <a:latin typeface="Calibri"/>
              </a:rPr>
              <a:t>Coordination latency under load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5623560" y="5774436"/>
            <a:ext cx="36576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6035040" y="5431536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A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Pentagon 17441"/>
          <p:cNvSpPr/>
          <p:nvPr/>
        </p:nvSpPr>
        <p:spPr>
          <a:xfrm>
            <a:off x="6172200" y="5609844"/>
            <a:ext cx="329184" cy="329184"/>
          </a:xfrm>
          <a:prstGeom prst="homePlat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629400" y="5431536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42B"/>
                </a:solidFill>
                <a:latin typeface="Calibri"/>
              </a:rPr>
              <a:t>Occupancy-aware planning avoids most conflicts before they occur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6916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Pentagon 17410"/>
          <p:cNvSpPr/>
          <p:nvPr/>
        </p:nvSpPr>
        <p:spPr>
          <a:xfrm>
            <a:off x="1810511" y="1920240"/>
            <a:ext cx="585216" cy="585216"/>
          </a:xfrm>
          <a:prstGeom prst="homePlat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26517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FEWER COLLISIONS &amp; LESS DOWNTIME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310896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Calibri"/>
              </a:rPr>
              <a:t>Decentralized deadlock resolution keeps the fleet moving instead of jammed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0" y="16916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ight Arrow 17414"/>
          <p:cNvSpPr/>
          <p:nvPr/>
        </p:nvSpPr>
        <p:spPr>
          <a:xfrm>
            <a:off x="5468112" y="1920240"/>
            <a:ext cx="585216" cy="58521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297680" y="26517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FASTER ORDER FULFILLMENT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43400" y="310896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Calibri"/>
              </a:rPr>
              <a:t>Built-in Smart vs Naive comparison mode quantifies the real throughput gain live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772400" y="16916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Hexagon 17418"/>
          <p:cNvSpPr/>
          <p:nvPr/>
        </p:nvSpPr>
        <p:spPr>
          <a:xfrm>
            <a:off x="9125712" y="1920240"/>
            <a:ext cx="585216" cy="585216"/>
          </a:xfrm>
          <a:prstGeom prst="hexagon">
            <a:avLst/>
          </a:prstGeom>
          <a:solidFill>
            <a:srgbClr val="E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955279" y="26517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SCALES WITHOUT REDESIGN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001000" y="310896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Calibri"/>
              </a:rPr>
              <a:t>Decentralized architecture — adding robots needs no re-architecture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286000" y="3977639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Donut 17422"/>
          <p:cNvSpPr/>
          <p:nvPr/>
        </p:nvSpPr>
        <p:spPr>
          <a:xfrm>
            <a:off x="3639312" y="4206240"/>
            <a:ext cx="585216" cy="585216"/>
          </a:xfrm>
          <a:prstGeom prst="donu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2468880" y="493775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NO SINGLE POINT OF FAILURE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514600" y="5394959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Calibri"/>
              </a:rPr>
              <a:t>One robot going offline never halts the rest of the fleet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943600" y="3977639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Cloud 17426"/>
          <p:cNvSpPr/>
          <p:nvPr/>
        </p:nvSpPr>
        <p:spPr>
          <a:xfrm>
            <a:off x="7296912" y="4206240"/>
            <a:ext cx="585216" cy="585216"/>
          </a:xfrm>
          <a:prstGeom prst="clou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126480" y="493775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BEYOND WAREHOUSES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172200" y="5394959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Calibri"/>
              </a:rPr>
              <a:t>Same coordination core applies to hospitals, airports, and factory floors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A5F6B"/>
                </a:solidFill>
                <a:latin typeface="Calibri"/>
              </a:rPr>
              <a:t>Technical foundations used to design and validate the coordination system:</a:t>
            </a:r>
          </a:p>
        </p:txBody>
      </p:sp>
      <p:sp>
        <p:nvSpPr>
          <p:cNvPr id="17411" name="Document 17410"/>
          <p:cNvSpPr/>
          <p:nvPr/>
        </p:nvSpPr>
        <p:spPr>
          <a:xfrm>
            <a:off x="502920" y="1828800"/>
            <a:ext cx="365760" cy="365760"/>
          </a:xfrm>
          <a:prstGeom prst="flowChartDocumen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1097280" y="16642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Dijkstra's Shortest-Path Algorithm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97280" y="201168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0242B"/>
                </a:solidFill>
                <a:latin typeface="Calibri"/>
              </a:rPr>
              <a:t>Classic graph-search foundation, extended with an occupancy penalty for congestion-aware planning</a:t>
            </a:r>
          </a:p>
        </p:txBody>
      </p:sp>
      <p:sp>
        <p:nvSpPr>
          <p:cNvPr id="17414" name="Document 17413"/>
          <p:cNvSpPr/>
          <p:nvPr/>
        </p:nvSpPr>
        <p:spPr>
          <a:xfrm>
            <a:off x="502920" y="2606040"/>
            <a:ext cx="365760" cy="365760"/>
          </a:xfrm>
          <a:prstGeom prst="flowChartDocumen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1097280" y="244144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TensorFlow Lite Micro (Google)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97280" y="27889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0242B"/>
                </a:solidFill>
                <a:latin typeface="Calibri"/>
              </a:rPr>
              <a:t>On-device inference framework used to run the trained ETA-priority model on ESP32</a:t>
            </a:r>
          </a:p>
        </p:txBody>
      </p:sp>
      <p:sp>
        <p:nvSpPr>
          <p:cNvPr id="17417" name="Document 17416"/>
          <p:cNvSpPr/>
          <p:nvPr/>
        </p:nvSpPr>
        <p:spPr>
          <a:xfrm>
            <a:off x="502920" y="3383279"/>
            <a:ext cx="365760" cy="365760"/>
          </a:xfrm>
          <a:prstGeom prst="flowChartDocumen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1097280" y="321868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Espressif ESP-IDF / Arduino-ESP32 Networking Docs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97280" y="356616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0242B"/>
                </a:solidFill>
                <a:latin typeface="Calibri"/>
              </a:rPr>
              <a:t>Reference for WiFi/UDP broadcast messaging between fleet robots</a:t>
            </a:r>
          </a:p>
        </p:txBody>
      </p:sp>
      <p:sp>
        <p:nvSpPr>
          <p:cNvPr id="17420" name="Document 17419"/>
          <p:cNvSpPr/>
          <p:nvPr/>
        </p:nvSpPr>
        <p:spPr>
          <a:xfrm>
            <a:off x="502920" y="4160520"/>
            <a:ext cx="365760" cy="365760"/>
          </a:xfrm>
          <a:prstGeom prst="flowChartDocumen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1097280" y="399592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Decentralized Multi-Robot Task Allocation (industry &amp; literature)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097280" y="43434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0242B"/>
                </a:solidFill>
                <a:latin typeface="Calibri"/>
              </a:rPr>
              <a:t>General body of work on auction/claim-based job assignment without a central coordinator</a:t>
            </a:r>
          </a:p>
        </p:txBody>
      </p:sp>
      <p:sp>
        <p:nvSpPr>
          <p:cNvPr id="17423" name="Document 17422"/>
          <p:cNvSpPr/>
          <p:nvPr/>
        </p:nvSpPr>
        <p:spPr>
          <a:xfrm>
            <a:off x="502920" y="4937760"/>
            <a:ext cx="365760" cy="365760"/>
          </a:xfrm>
          <a:prstGeom prst="flowChartDocumen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1097280" y="477316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Warehouse AGV Traffic-Control Practice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97280" y="51206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0242B"/>
                </a:solidFill>
                <a:latin typeface="Calibri"/>
              </a:rPr>
              <a:t>Graph-constrained guided-path navigation, as used in most deployed industrial AGV fleets today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F6B"/>
                </a:solidFill>
                <a:latin typeface="Calibri"/>
              </a:rPr>
              <a:t>Team-conducted research, field notes, and any additional literature reviewed can be added here.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